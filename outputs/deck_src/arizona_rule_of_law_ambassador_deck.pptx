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Today, we're here as part of a statewide effort to strengthen civic understanding and public trust. This isn't a debate-it's a conversation about the principles that keep our communities fair, stable, and just.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here because trust in law isn't automatic. It's built-by explaining, modeling, and defending fair process. Our goal: help Arizonans see why these principles matter, especially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 of Law means no one is above the law. It's about rules everyone can see, processes everyone can trust, and rights everyone can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 of Law is what lets us resolve differences without force. It protects our freedoms and keeps power in check-so everyone knows where they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Accountability is the first pillar. It means everyone-public officials and private citizens alike-must answer to the same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 law means laws aren't hidden or shifting. They're understandable, public, and designed to protect everyone's rights.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government means the public can see how decisions are made. Transparency builds trust and keeps power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Justice must be accessible to all, not just the powerful. Courts and decision-makers must be fair, ethical, and 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the Rule of Law weakens, people lose faith in fairness. Rights become fragile, and power-not process-starts to decide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Lawyers are civic translators. Our oath is to the law and the Constitution. We lead by explaining, modeling, and defending fair process for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Ambassadors don't referee politics. We clarify, stay nonpartisan, and invite everyone to see their role in upholding the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terms early. Use examples people recognize. When things drift, bring it back to fairness, accountability, and equal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don't need a law degree to support the Rule of Law. Learn the basics, expect fairness, and use Arizona's civic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trusted Arizona organizations for follow-up and learning. These are your partners in civic education and public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keep this going. Teach others, model respectful dialogue, and connect with these organizations for more ways to 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commitment. For more, see the manual, handouts, or Arizona's civic partners. Let's keep the conversation 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1827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6400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94B"/>
                </a:solidFill>
                <a:latin typeface="Aptos Display"/>
              </a:defRPr>
            </a:pPr>
            <a:r>
              <a:t>Ambassador Program</a:t>
            </a:r>
          </a:p>
          <a:p>
            <a:pPr>
              <a:spcBef>
                <a:spcPts val="1000"/>
              </a:spcBef>
              <a:defRPr sz="2200" b="1">
                <a:solidFill>
                  <a:srgbClr val="AB1827"/>
                </a:solidFill>
                <a:latin typeface="Aptos Display"/>
              </a:defRPr>
            </a:pPr>
            <a:r>
              <a:t>Defending the Rule of Law in Arizona</a:t>
            </a:r>
          </a:p>
          <a:p>
            <a:pPr>
              <a:spcBef>
                <a:spcPts val="1600"/>
              </a:spcBef>
              <a:defRPr sz="1400">
                <a:solidFill>
                  <a:srgbClr val="16294B"/>
                </a:solidFill>
                <a:latin typeface="Aptos"/>
              </a:defRPr>
            </a:pPr>
            <a:r>
              <a:t>Civic education materials for lawyers speaking with schools, community groups, and civic organizations.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097280"/>
            <a:ext cx="3566160" cy="2148840"/>
          </a:xfrm>
          <a:prstGeom prst="roundRect">
            <a:avLst/>
          </a:prstGeom>
          <a:solidFill>
            <a:srgbClr val="16294B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4ECDB"/>
                </a:solidFill>
                <a:latin typeface="Aptos Display"/>
              </a:defRPr>
            </a:pPr>
            <a:r>
              <a:t>Program Focus</a:t>
            </a:r>
          </a:p>
          <a:p>
            <a:pPr>
              <a:defRPr sz="1400">
                <a:solidFill>
                  <a:srgbClr val="F4ECDB"/>
                </a:solidFill>
                <a:latin typeface="Aptos"/>
              </a:defRPr>
            </a:pPr>
            <a:r>
              <a:t>Nonpartisan civic education</a:t>
            </a:r>
          </a:p>
          <a:p>
            <a:pPr>
              <a:defRPr sz="1400">
                <a:solidFill>
                  <a:srgbClr val="F4ECDB"/>
                </a:solidFill>
                <a:latin typeface="Aptos"/>
              </a:defRPr>
            </a:pPr>
            <a:r>
              <a:t>Plain-English legal communication</a:t>
            </a:r>
          </a:p>
          <a:p>
            <a:pPr>
              <a:defRPr sz="1400">
                <a:solidFill>
                  <a:srgbClr val="F4ECDB"/>
                </a:solidFill>
                <a:latin typeface="Aptos"/>
              </a:defRPr>
            </a:pPr>
            <a:r>
              <a:t>Arizona-rooted public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   |   Professional civic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Why We're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Build civic understanding.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Protect fair process.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Keep trust anchored in law.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Build civic understanding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Protect fair process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Keep trust anchored in law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We're here because trust in law isn't automatic. It's built-by explaining, modeling, and defending fair process. Our goal: help Arizonans see why these principles matter, especially now.</a:t>
            </a:r>
          </a:p>
          <a:p>
            <a:pPr>
              <a:spcBef>
                <a:spcPts val="1200"/>
              </a:spcBef>
              <a:defRPr sz="1100" i="1">
                <a:solidFill>
                  <a:srgbClr val="16294B"/>
                </a:solidFill>
                <a:latin typeface="Aptos"/>
              </a:defRPr>
            </a:pPr>
            <a:r>
              <a:t>"I do solemnly swear (or affirm) that I will support the constitution and laws of the United States and the State of Arizona."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What Is the Rule of Law?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Rules, not rulers.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Fair process, not favoritism.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Rights protected by accountable institutions.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Rules, not rulers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Fair process, not favoritism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Rights protected by accountable...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The Rule of Law means no one is above the law. It's about rules everyone can see, processes everyone can trust, and rights everyone can claim.</a:t>
            </a:r>
          </a:p>
          <a:p>
            <a:pPr>
              <a:spcBef>
                <a:spcPts val="1200"/>
              </a:spcBef>
              <a:defRPr sz="1100" i="1">
                <a:solidFill>
                  <a:srgbClr val="16294B"/>
                </a:solidFill>
                <a:latin typeface="Aptos"/>
              </a:defRPr>
            </a:pPr>
            <a:r>
              <a:t>"If we don't protect the Rule of Law, we cannot expect the law to protect us."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Protects liberty.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Disciplines power.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Keeps disagreement peaceful.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Protects liberty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Disciplines power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Keeps disagreement peaceful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The Rule of Law is what lets us resolve differences without force. It protects our freedoms and keeps power in check-so everyone knows where they stand.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Accountability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No person or institution is above the law.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No person or institution is abo...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Accountability is the first pillar. It means everyone-public officials and private citizens alike-must answer to the same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Just Law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Laws must be clear, public, stable, and protect rights.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Laws must be clear, public, sta...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Just law means laws aren't hidden or shifting. They're understandable, public, and designed to protect everyone's rights.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Open Government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Legal rules and decisions should be transparent.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Legal rules and decisions shoul...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Open government means the public can see how decisions are made. Transparency builds trust and keeps power honest.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Accessible, Impartial Justice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Disputes resolved fairly by independent decision-makers.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Disputes resolved fairly by ind...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Justice must be accessible to all, not just the powerful. Courts and decision-makers must be fair, ethical, and independent.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WHEN PROCESS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What Happens When It Weakens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5394960" cy="4114800"/>
          </a:xfrm>
          <a:prstGeom prst="roundRect">
            <a:avLst/>
          </a:prstGeom>
          <a:solidFill>
            <a:srgbClr val="16294B"/>
          </a:solidFill>
          <a:ln>
            <a:solidFill>
              <a:srgbClr val="AB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82880" wrap="square"/>
          <a:lstStyle/>
          <a:p>
            <a:pPr algn="ctr">
              <a:spcAft>
                <a:spcPts val="1200"/>
              </a:spcAft>
              <a:defRPr sz="2400" b="1">
                <a:solidFill>
                  <a:srgbClr val="F4ECDB"/>
                </a:solidFill>
                <a:latin typeface="Aptos Display"/>
              </a:defRPr>
            </a:pPr>
            <a:r>
              <a:t>Trust erodes.</a:t>
            </a:r>
          </a:p>
          <a:p>
            <a:pPr>
              <a:spcAft>
                <a:spcPts val="1200"/>
              </a:spcAft>
              <a:defRPr sz="1800" b="0">
                <a:solidFill>
                  <a:srgbClr val="F4ECDB"/>
                </a:solidFill>
                <a:latin typeface="Aptos"/>
              </a:defRPr>
            </a:pPr>
            <a:r>
              <a:t>Rights feel less secure.</a:t>
            </a:r>
          </a:p>
          <a:p>
            <a:pPr>
              <a:spcAft>
                <a:spcPts val="1200"/>
              </a:spcAft>
              <a:defRPr sz="1800" b="0">
                <a:solidFill>
                  <a:srgbClr val="F4ECDB"/>
                </a:solidFill>
                <a:latin typeface="Aptos"/>
              </a:defRPr>
            </a:pPr>
            <a:r>
              <a:t>Power replaces process.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417320"/>
            <a:ext cx="4389120" cy="411480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Why this matters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Trust erodes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Rights feel less secure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Power replaces process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When the Rule of Law weakens, people lose faith in fairness. Rights become fragile, and power-not process-starts to decide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   |   Protecting public trust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PROFESSIONAL DUTY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Why Lawyers Must 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Explain the principle.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Model civic restraint.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Defend lawful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Explain the principle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Model civic restraint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Defend lawful process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Lawyers are civic translators. Our oath is to the law and the Constitution. We lead by explaining, modeling, and defending fair process for 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AMBASSADOR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The Ambassador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Clarify the issue.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Stay nonpartisan.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Invite civic responsibility.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Clarify the issue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Stay nonpartisan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Invite civic responsibility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Ambassadors don't referee politics. We clarify, stay nonpartisan, and invite everyone to see their role in upholding the law.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Communicating Effectively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Start in plain English.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Use familiar examples.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Return to shared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Start in plain English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Use familiar examples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Return to shared principles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Define terms early. Use examples people recognize. When things drift, bring it back to fairness, accountability, and equal law.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PUBLIC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What Citizens Can 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28016" cy="425196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5852160" cy="420624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1000"/>
              </a:spcAft>
              <a:defRPr sz="2400" b="1">
                <a:solidFill>
                  <a:srgbClr val="16294B"/>
                </a:solidFill>
                <a:latin typeface="Aptos Display"/>
              </a:defRPr>
            </a:pPr>
            <a:r>
              <a:t>Learn the principle.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Expect fair process.</a:t>
            </a:r>
          </a:p>
          <a:p>
            <a:pPr>
              <a:spcAft>
                <a:spcPts val="1000"/>
              </a:spcAft>
              <a:defRPr sz="1800" b="0">
                <a:solidFill>
                  <a:srgbClr val="16294B"/>
                </a:solidFill>
                <a:latin typeface="Aptos"/>
              </a:defRPr>
            </a:pPr>
            <a:r>
              <a:t>Use trusted civic institutions.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17320"/>
            <a:ext cx="4114800" cy="3611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700" b="1">
                <a:solidFill>
                  <a:srgbClr val="16294B"/>
                </a:solidFill>
                <a:latin typeface="Aptos Display"/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Learn the principle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Expect fair process</a:t>
            </a:r>
          </a:p>
          <a:p>
            <a:pPr>
              <a:spcBef>
                <a:spcPts val="800"/>
              </a:spcBef>
              <a:defRPr sz="1400" b="1">
                <a:solidFill>
                  <a:srgbClr val="AB1827"/>
                </a:solidFill>
                <a:latin typeface="Aptos"/>
              </a:defRPr>
            </a:pPr>
            <a:r>
              <a:t>Use trusted civic institutions</a:t>
            </a:r>
          </a:p>
          <a:p>
            <a:pPr>
              <a:spcBef>
                <a:spcPts val="1200"/>
              </a:spcBef>
              <a:defRPr sz="1300">
                <a:solidFill>
                  <a:srgbClr val="16294B"/>
                </a:solidFill>
                <a:latin typeface="Aptos"/>
              </a:defRPr>
            </a:pPr>
            <a:r>
              <a:t>You don't need a law degree to support the Rule of Law. Learn the basics, expect fairness, and use Arizona's civic resources.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ARIZONA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Arizona-Specific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2743200" cy="2468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800" b="1">
                <a:solidFill>
                  <a:srgbClr val="16294B"/>
                </a:solidFill>
                <a:latin typeface="Aptos Display"/>
              </a:defRPr>
            </a:pPr>
            <a:r>
              <a:t>State Bar of Arizona</a:t>
            </a:r>
          </a:p>
          <a:p>
            <a:pPr>
              <a:defRPr sz="1300">
                <a:solidFill>
                  <a:srgbClr val="16294B"/>
                </a:solidFill>
                <a:latin typeface="Aptos"/>
              </a:defRPr>
            </a:pPr>
            <a:r>
              <a:t>Add approved links, contact details, or local event information 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828800"/>
            <a:ext cx="2743200" cy="2468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800" b="1">
                <a:solidFill>
                  <a:srgbClr val="16294B"/>
                </a:solidFill>
                <a:latin typeface="Aptos Display"/>
              </a:defRPr>
            </a:pPr>
            <a:r>
              <a:t>Arizona Bar Foundation [placeholder]</a:t>
            </a:r>
          </a:p>
          <a:p>
            <a:pPr>
              <a:defRPr sz="1300">
                <a:solidFill>
                  <a:srgbClr val="16294B"/>
                </a:solidFill>
                <a:latin typeface="Aptos"/>
              </a:defRPr>
            </a:pPr>
            <a:r>
              <a:t>Add approved links, contact details, or local event information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828800"/>
            <a:ext cx="2743200" cy="2468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800" b="1">
                <a:solidFill>
                  <a:srgbClr val="16294B"/>
                </a:solidFill>
                <a:latin typeface="Aptos Display"/>
              </a:defRPr>
            </a:pPr>
            <a:r>
              <a:t>O'Connor Institute [placeholder]</a:t>
            </a:r>
          </a:p>
          <a:p>
            <a:pPr>
              <a:defRPr sz="1300">
                <a:solidFill>
                  <a:srgbClr val="16294B"/>
                </a:solidFill>
                <a:latin typeface="Aptos"/>
              </a:defRPr>
            </a:pPr>
            <a:r>
              <a:t>Add approved links, contact details, or local event information 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800600"/>
            <a:ext cx="10058400" cy="658368"/>
          </a:xfrm>
          <a:prstGeom prst="roundRect">
            <a:avLst/>
          </a:prstGeom>
          <a:solidFill>
            <a:srgbClr val="16294B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73152"/>
          <a:lstStyle/>
          <a:p>
            <a:pPr algn="ctr">
              <a:defRPr sz="1200" i="1">
                <a:solidFill>
                  <a:srgbClr val="F4ECDB"/>
                </a:solidFill>
                <a:latin typeface="Aptos"/>
              </a:defRPr>
            </a:pPr>
            <a:r>
              <a:t>"I do solemnly swear (or affirm) that I will support the constitution and laws of the United States and the State of Arizona."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   |   Local partners and follow-up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Call to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212080" cy="3474720"/>
          </a:xfrm>
          <a:prstGeom prst="roundRect">
            <a:avLst/>
          </a:prstGeom>
          <a:solidFill>
            <a:srgbClr val="16294B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 b="1">
                <a:solidFill>
                  <a:srgbClr val="F4ECDB"/>
                </a:solidFill>
                <a:latin typeface="Aptos Display"/>
              </a:defRPr>
            </a:pPr>
            <a:r>
              <a:t>Teach the principle.</a:t>
            </a:r>
          </a:p>
          <a:p>
            <a:pPr>
              <a:spcAft>
                <a:spcPts val="1200"/>
              </a:spcAft>
              <a:defRPr sz="1800" b="0">
                <a:solidFill>
                  <a:srgbClr val="F4ECDB"/>
                </a:solidFill>
                <a:latin typeface="Aptos"/>
              </a:defRPr>
            </a:pPr>
            <a:r>
              <a:t>Model respectful civic dialogue.</a:t>
            </a:r>
          </a:p>
          <a:p>
            <a:pPr>
              <a:defRPr sz="1600">
                <a:solidFill>
                  <a:srgbClr val="F4ECDB"/>
                </a:solidFill>
                <a:latin typeface="Aptos"/>
              </a:defRPr>
            </a:pPr>
            <a:r>
              <a:t>Arizona Bar Foundation: [link]</a:t>
            </a:r>
          </a:p>
          <a:p>
            <a:pPr>
              <a:defRPr sz="1600">
                <a:solidFill>
                  <a:srgbClr val="F4ECDB"/>
                </a:solidFill>
                <a:latin typeface="Aptos"/>
              </a:defRPr>
            </a:pPr>
            <a:r>
              <a:t>O'Connor Institute: [link]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572000" cy="3474720"/>
          </a:xfrm>
          <a:prstGeom prst="roundRect">
            <a:avLst/>
          </a:prstGeom>
          <a:solidFill>
            <a:srgbClr val="FFF9F0"/>
          </a:solidFill>
          <a:ln>
            <a:solidFill>
              <a:srgbClr val="AB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800" b="1">
                <a:solidFill>
                  <a:srgbClr val="16294B"/>
                </a:solidFill>
                <a:latin typeface="Aptos Display"/>
              </a:defRPr>
            </a:pPr>
            <a:r>
              <a:t>Speaker Prompt</a:t>
            </a:r>
          </a:p>
          <a:p>
            <a:pPr>
              <a:defRPr sz="1500">
                <a:solidFill>
                  <a:srgbClr val="16294B"/>
                </a:solidFill>
                <a:latin typeface="Aptos"/>
              </a:defRPr>
            </a:pPr>
            <a:r>
              <a:t>Invite the audience to leave with one practical commitment: explain the principle, defend fair process, and point others toward trusted civic institutions.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   |   Closing commitment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11480"/>
            <a:ext cx="1554480" cy="1554480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589520" y="5440680"/>
            <a:ext cx="5029200" cy="1188720"/>
          </a:xfrm>
          <a:prstGeom prst="chevron">
            <a:avLst/>
          </a:prstGeom>
          <a:solidFill>
            <a:srgbClr val="AB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502920"/>
            <a:ext cx="256032" cy="256032"/>
          </a:xfrm>
          <a:prstGeom prst="ellipse">
            <a:avLst/>
          </a:prstGeom>
          <a:solidFill>
            <a:srgbClr val="F5B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39728" y="6126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ECDB"/>
                </a:solidFill>
                <a:latin typeface="Aptos Display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B1827"/>
                </a:solidFill>
                <a:latin typeface="Aptos"/>
              </a:defRPr>
            </a:pPr>
            <a:r>
              <a:t>CONTINUE THE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863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94B"/>
                </a:solidFill>
                <a:latin typeface="Aptos Display"/>
              </a:defRPr>
            </a:pPr>
            <a:r>
              <a:t>Closing / Additional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2743200" cy="2468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800" b="1">
                <a:solidFill>
                  <a:srgbClr val="16294B"/>
                </a:solidFill>
                <a:latin typeface="Aptos Display"/>
              </a:defRPr>
            </a:pPr>
            <a:r>
              <a:t>Teach the principle.</a:t>
            </a:r>
          </a:p>
          <a:p>
            <a:pPr>
              <a:defRPr sz="1300">
                <a:solidFill>
                  <a:srgbClr val="16294B"/>
                </a:solidFill>
                <a:latin typeface="Aptos"/>
              </a:defRPr>
            </a:pPr>
            <a:r>
              <a:t>Add approved links, contact details, or local event information 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828800"/>
            <a:ext cx="2743200" cy="2468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800" b="1">
                <a:solidFill>
                  <a:srgbClr val="16294B"/>
                </a:solidFill>
                <a:latin typeface="Aptos Display"/>
              </a:defRPr>
            </a:pPr>
            <a:r>
              <a:t>Protect fair process.</a:t>
            </a:r>
          </a:p>
          <a:p>
            <a:pPr>
              <a:defRPr sz="1300">
                <a:solidFill>
                  <a:srgbClr val="16294B"/>
                </a:solidFill>
                <a:latin typeface="Aptos"/>
              </a:defRPr>
            </a:pPr>
            <a:r>
              <a:t>Add approved links, contact details, or local event information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828800"/>
            <a:ext cx="2743200" cy="2468880"/>
          </a:xfrm>
          <a:prstGeom prst="roundRect">
            <a:avLst/>
          </a:prstGeom>
          <a:solidFill>
            <a:srgbClr val="FFF9F0"/>
          </a:solidFill>
          <a:ln>
            <a:solidFill>
              <a:srgbClr val="F5B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800" b="1">
                <a:solidFill>
                  <a:srgbClr val="16294B"/>
                </a:solidFill>
                <a:latin typeface="Aptos Display"/>
              </a:defRPr>
            </a:pPr>
            <a:r>
              <a:t>Keep the conversation civic.</a:t>
            </a:r>
          </a:p>
          <a:p>
            <a:pPr>
              <a:defRPr sz="1300">
                <a:solidFill>
                  <a:srgbClr val="16294B"/>
                </a:solidFill>
                <a:latin typeface="Aptos"/>
              </a:defRPr>
            </a:pPr>
            <a:r>
              <a:t>Add approved links, contact details, or local event information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94B"/>
                </a:solidFill>
                <a:latin typeface="Aptos"/>
              </a:defRPr>
            </a:pPr>
            <a:r>
              <a:t>Arizona Rule of Law Ambassador Program   |   Local partners and 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